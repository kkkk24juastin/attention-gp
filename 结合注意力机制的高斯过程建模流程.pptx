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36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090"/>
        <p:guide pos="368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8327f1586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8327f1586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Note: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This can be used to represent a vector. If you want to edit the distance between each element, you can “ungroup” the shapes and then modify the distance between the individual lines.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Author: Elvis Saravia (ellfae@gmail.com)</a:t>
            </a:r>
            <a:endParaRPr lang="en-GB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818"/>
            <a:ext cx="11360800" cy="27369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15600" y="3779028"/>
            <a:ext cx="11360800" cy="10568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948"/>
            <a:ext cx="11360800" cy="11224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97"/>
            <a:ext cx="11360800" cy="763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415600" y="1536712"/>
            <a:ext cx="11360800" cy="45554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9035" lvl="3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635" lvl="4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8235" lvl="5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835" lvl="6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97"/>
            <a:ext cx="11360800" cy="763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415600" y="1536712"/>
            <a:ext cx="5333200" cy="45554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/>
            </a:lvl1pPr>
            <a:lvl2pPr marL="1219200" lvl="1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>
              <a:spcBef>
                <a:spcPct val="42700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9035" lvl="3" indent="-406400">
              <a:spcBef>
                <a:spcPct val="42700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635" lvl="4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8235" lvl="5" indent="-406400">
              <a:spcBef>
                <a:spcPct val="42700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835" lvl="6" indent="-406400">
              <a:spcBef>
                <a:spcPct val="42700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>
              <a:spcBef>
                <a:spcPct val="427000"/>
              </a:spcBef>
              <a:spcAft>
                <a:spcPts val="160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6443200" y="1536712"/>
            <a:ext cx="5333200" cy="45554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/>
            </a:lvl1pPr>
            <a:lvl2pPr marL="1219200" lvl="1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>
              <a:spcBef>
                <a:spcPct val="42700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9035" lvl="3" indent="-406400">
              <a:spcBef>
                <a:spcPct val="42700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635" lvl="4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8235" lvl="5" indent="-406400">
              <a:spcBef>
                <a:spcPct val="42700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835" lvl="6" indent="-406400">
              <a:spcBef>
                <a:spcPct val="42700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>
              <a:spcBef>
                <a:spcPct val="427000"/>
              </a:spcBef>
              <a:spcAft>
                <a:spcPts val="160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97"/>
            <a:ext cx="11360800" cy="763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38"/>
            <a:ext cx="3744000" cy="10076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415600" y="1852895"/>
            <a:ext cx="3744000" cy="4239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200" lvl="1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>
              <a:spcBef>
                <a:spcPct val="42700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9035" lvl="3" indent="-406400">
              <a:spcBef>
                <a:spcPct val="42700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635" lvl="4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8235" lvl="5" indent="-406400">
              <a:spcBef>
                <a:spcPct val="42700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835" lvl="6" indent="-406400">
              <a:spcBef>
                <a:spcPct val="42700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>
              <a:spcBef>
                <a:spcPct val="42700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>
              <a:spcBef>
                <a:spcPct val="427000"/>
              </a:spcBef>
              <a:spcAft>
                <a:spcPts val="160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31"/>
            <a:ext cx="8490400" cy="54546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35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318"/>
            <a:ext cx="5393600" cy="19765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354000" y="3737626"/>
            <a:ext cx="5393600" cy="1646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6586000" y="965483"/>
            <a:ext cx="5116000" cy="49270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9035" lvl="3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635" lvl="4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8235" lvl="5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835" lvl="6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415600" y="5641057"/>
            <a:ext cx="7998400" cy="806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415600" y="1474909"/>
            <a:ext cx="11360800" cy="26181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415600" y="4203183"/>
            <a:ext cx="11360800" cy="17344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algn="ctr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algn="ctr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9035" lvl="3" indent="-423545" algn="ctr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635" lvl="4" indent="-423545" algn="ctr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8235" lvl="5" indent="-423545" algn="ctr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835" lvl="6" indent="-423545" algn="ctr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algn="ctr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algn="ctr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97"/>
            <a:ext cx="11360800" cy="76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15600" y="1536712"/>
            <a:ext cx="11360800" cy="455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2400">
                <a:solidFill>
                  <a:schemeClr val="dk2"/>
                </a:solidFill>
              </a:defRPr>
            </a:lvl1pPr>
            <a:lvl2pPr marL="1219200" lvl="1" indent="-423545">
              <a:lnSpc>
                <a:spcPct val="115000"/>
              </a:lnSpc>
              <a:spcBef>
                <a:spcPct val="427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828800" lvl="2" indent="-423545">
              <a:lnSpc>
                <a:spcPct val="115000"/>
              </a:lnSpc>
              <a:spcBef>
                <a:spcPct val="427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2439035" lvl="3" indent="-423545">
              <a:lnSpc>
                <a:spcPct val="115000"/>
              </a:lnSpc>
              <a:spcBef>
                <a:spcPct val="427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3048635" lvl="4" indent="-423545">
              <a:lnSpc>
                <a:spcPct val="115000"/>
              </a:lnSpc>
              <a:spcBef>
                <a:spcPct val="427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3658235" lvl="5" indent="-423545">
              <a:lnSpc>
                <a:spcPct val="115000"/>
              </a:lnSpc>
              <a:spcBef>
                <a:spcPct val="427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4267835" lvl="6" indent="-423545">
              <a:lnSpc>
                <a:spcPct val="115000"/>
              </a:lnSpc>
              <a:spcBef>
                <a:spcPct val="427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4876800" lvl="7" indent="-423545">
              <a:lnSpc>
                <a:spcPct val="115000"/>
              </a:lnSpc>
              <a:spcBef>
                <a:spcPct val="427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5486400" lvl="8" indent="-423545">
              <a:lnSpc>
                <a:spcPct val="115000"/>
              </a:lnSpc>
              <a:spcBef>
                <a:spcPct val="4270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11296611" y="6217943"/>
            <a:ext cx="731600" cy="524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5">
                <a:solidFill>
                  <a:schemeClr val="dk2"/>
                </a:solidFill>
              </a:defRPr>
            </a:lvl1pPr>
            <a:lvl2pPr lvl="1" algn="r">
              <a:buNone/>
              <a:defRPr sz="1335">
                <a:solidFill>
                  <a:schemeClr val="dk2"/>
                </a:solidFill>
              </a:defRPr>
            </a:lvl2pPr>
            <a:lvl3pPr lvl="2" algn="r">
              <a:buNone/>
              <a:defRPr sz="1335">
                <a:solidFill>
                  <a:schemeClr val="dk2"/>
                </a:solidFill>
              </a:defRPr>
            </a:lvl3pPr>
            <a:lvl4pPr lvl="3" algn="r">
              <a:buNone/>
              <a:defRPr sz="1335">
                <a:solidFill>
                  <a:schemeClr val="dk2"/>
                </a:solidFill>
              </a:defRPr>
            </a:lvl4pPr>
            <a:lvl5pPr lvl="4" algn="r">
              <a:buNone/>
              <a:defRPr sz="1335">
                <a:solidFill>
                  <a:schemeClr val="dk2"/>
                </a:solidFill>
              </a:defRPr>
            </a:lvl5pPr>
            <a:lvl6pPr lvl="5" algn="r">
              <a:buNone/>
              <a:defRPr sz="1335">
                <a:solidFill>
                  <a:schemeClr val="dk2"/>
                </a:solidFill>
              </a:defRPr>
            </a:lvl6pPr>
            <a:lvl7pPr lvl="6" algn="r">
              <a:buNone/>
              <a:defRPr sz="1335">
                <a:solidFill>
                  <a:schemeClr val="dk2"/>
                </a:solidFill>
              </a:defRPr>
            </a:lvl7pPr>
            <a:lvl8pPr lvl="7" algn="r">
              <a:buNone/>
              <a:defRPr sz="1335">
                <a:solidFill>
                  <a:schemeClr val="dk2"/>
                </a:solidFill>
              </a:defRPr>
            </a:lvl8pPr>
            <a:lvl9pPr lvl="8" algn="r">
              <a:buNone/>
              <a:defRPr sz="13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-52705" y="331602"/>
            <a:ext cx="2739390" cy="2238375"/>
            <a:chOff x="-10" y="462"/>
            <a:chExt cx="4314" cy="3525"/>
          </a:xfrm>
        </p:grpSpPr>
        <p:grpSp>
          <p:nvGrpSpPr>
            <p:cNvPr id="36" name="组合 35"/>
            <p:cNvGrpSpPr/>
            <p:nvPr/>
          </p:nvGrpSpPr>
          <p:grpSpPr>
            <a:xfrm>
              <a:off x="961" y="462"/>
              <a:ext cx="3343" cy="2851"/>
              <a:chOff x="961" y="462"/>
              <a:chExt cx="3343" cy="2851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1207" y="462"/>
                <a:ext cx="2936" cy="2569"/>
                <a:chOff x="108" y="482"/>
                <a:chExt cx="2936" cy="2569"/>
              </a:xfrm>
            </p:grpSpPr>
            <p:grpSp>
              <p:nvGrpSpPr>
                <p:cNvPr id="1" name="组合 0"/>
                <p:cNvGrpSpPr/>
                <p:nvPr/>
              </p:nvGrpSpPr>
              <p:grpSpPr>
                <a:xfrm flipV="1">
                  <a:off x="664" y="1172"/>
                  <a:ext cx="2380" cy="198"/>
                  <a:chOff x="3072" y="3445"/>
                  <a:chExt cx="8254" cy="1210"/>
                </a:xfrm>
              </p:grpSpPr>
              <p:sp>
                <p:nvSpPr>
                  <p:cNvPr id="78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79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0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1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2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3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4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2" name="组合 1"/>
                <p:cNvGrpSpPr/>
                <p:nvPr/>
              </p:nvGrpSpPr>
              <p:grpSpPr>
                <a:xfrm flipV="1">
                  <a:off x="664" y="1611"/>
                  <a:ext cx="2380" cy="198"/>
                  <a:chOff x="3072" y="3445"/>
                  <a:chExt cx="8254" cy="1210"/>
                </a:xfrm>
              </p:grpSpPr>
              <p:sp>
                <p:nvSpPr>
                  <p:cNvPr id="3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4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6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" name="组合 9"/>
                <p:cNvGrpSpPr/>
                <p:nvPr/>
              </p:nvGrpSpPr>
              <p:grpSpPr>
                <a:xfrm flipV="1">
                  <a:off x="664" y="2465"/>
                  <a:ext cx="2380" cy="198"/>
                  <a:chOff x="3072" y="3445"/>
                  <a:chExt cx="8254" cy="1210"/>
                </a:xfrm>
              </p:grpSpPr>
              <p:sp>
                <p:nvSpPr>
                  <p:cNvPr id="11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12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5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7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8" name="组合 17"/>
                <p:cNvGrpSpPr/>
                <p:nvPr/>
              </p:nvGrpSpPr>
              <p:grpSpPr>
                <a:xfrm flipV="1">
                  <a:off x="664" y="2051"/>
                  <a:ext cx="2380" cy="198"/>
                  <a:chOff x="3072" y="3445"/>
                  <a:chExt cx="8254" cy="1210"/>
                </a:xfrm>
              </p:grpSpPr>
              <p:sp>
                <p:nvSpPr>
                  <p:cNvPr id="19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20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1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3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4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5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26" name="文本框 25"/>
                <p:cNvSpPr txBox="1"/>
                <p:nvPr/>
              </p:nvSpPr>
              <p:spPr>
                <a:xfrm>
                  <a:off x="1230" y="482"/>
                  <a:ext cx="1814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Input Set  </a:t>
                  </a:r>
                  <a:endParaRPr lang="en-US" altLang="zh-CN" sz="1200"/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108" y="1082"/>
                  <a:ext cx="556" cy="19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 sz="900"/>
                    <a:t>X</a:t>
                  </a:r>
                  <a:r>
                    <a:rPr lang="en-US" altLang="zh-CN" sz="900" baseline="-25000"/>
                    <a:t>1</a:t>
                  </a:r>
                  <a:endParaRPr lang="en-US" altLang="zh-CN" sz="900"/>
                </a:p>
                <a:p>
                  <a:endParaRPr lang="en-US" altLang="zh-CN" sz="900"/>
                </a:p>
                <a:p>
                  <a:pPr algn="l">
                    <a:buSzTx/>
                  </a:pPr>
                  <a:r>
                    <a:rPr lang="en-US" altLang="zh-CN" sz="900"/>
                    <a:t>X</a:t>
                  </a:r>
                  <a:r>
                    <a:rPr lang="en-US" altLang="zh-CN" sz="900" baseline="-25000"/>
                    <a:t>2</a:t>
                  </a:r>
                  <a:endParaRPr lang="en-US" altLang="zh-CN" sz="900"/>
                </a:p>
                <a:p>
                  <a:endParaRPr lang="en-US" altLang="zh-CN" sz="900"/>
                </a:p>
                <a:p>
                  <a:r>
                    <a:rPr lang="en-US" altLang="zh-CN" sz="900"/>
                    <a:t>...</a:t>
                  </a:r>
                  <a:endParaRPr lang="en-US" altLang="zh-CN" sz="900"/>
                </a:p>
                <a:p>
                  <a:endParaRPr lang="en-US" altLang="zh-CN" sz="900"/>
                </a:p>
                <a:p>
                  <a:r>
                    <a:rPr lang="en-US" altLang="zh-CN" sz="900"/>
                    <a:t>X</a:t>
                  </a:r>
                  <a:r>
                    <a:rPr lang="en-US" altLang="zh-CN" sz="900" baseline="-25000"/>
                    <a:t>n</a:t>
                  </a:r>
                  <a:endParaRPr lang="en-US" altLang="zh-CN" sz="900" baseline="-25000"/>
                </a:p>
              </p:txBody>
            </p:sp>
          </p:grpSp>
          <p:sp>
            <p:nvSpPr>
              <p:cNvPr id="32" name="左大括号 31"/>
              <p:cNvSpPr/>
              <p:nvPr/>
            </p:nvSpPr>
            <p:spPr>
              <a:xfrm rot="16200000">
                <a:off x="2751" y="1921"/>
                <a:ext cx="403" cy="2380"/>
              </a:xfrm>
              <a:prstGeom prst="leftBrace">
                <a:avLst>
                  <a:gd name="adj1" fmla="val 0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左大括号 32"/>
              <p:cNvSpPr/>
              <p:nvPr/>
            </p:nvSpPr>
            <p:spPr>
              <a:xfrm>
                <a:off x="961" y="1151"/>
                <a:ext cx="403" cy="1491"/>
              </a:xfrm>
              <a:prstGeom prst="leftBrace">
                <a:avLst>
                  <a:gd name="adj1" fmla="val 0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710" y="2656"/>
                <a:ext cx="259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900"/>
                  <a:t> d</a:t>
                </a:r>
                <a:r>
                  <a:rPr lang="en-US" altLang="zh-CN" sz="900" baseline="-25000"/>
                  <a:t>1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2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3 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4  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5</a:t>
                </a:r>
                <a:r>
                  <a:rPr lang="en-US" altLang="zh-CN" sz="900"/>
                  <a:t>   ...    d</a:t>
                </a:r>
                <a:r>
                  <a:rPr lang="en-US" altLang="zh-CN" sz="900" baseline="-25000"/>
                  <a:t>k</a:t>
                </a:r>
                <a:endParaRPr lang="en-US" altLang="zh-CN" sz="900" baseline="-25000"/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 rot="10800000">
              <a:off x="-10" y="824"/>
              <a:ext cx="869" cy="183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en-US" altLang="zh-CN" sz="1200"/>
                <a:t>n candidate points</a:t>
              </a:r>
              <a:endParaRPr lang="en-US" altLang="zh-CN" sz="120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763" y="3262"/>
              <a:ext cx="241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k dimensions of the point</a:t>
              </a:r>
              <a:endParaRPr lang="en-US" altLang="zh-CN" sz="1200"/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2871470" y="100965"/>
            <a:ext cx="6320790" cy="2468880"/>
            <a:chOff x="4557" y="2338"/>
            <a:chExt cx="9954" cy="3888"/>
          </a:xfrm>
        </p:grpSpPr>
        <p:sp>
          <p:nvSpPr>
            <p:cNvPr id="48" name="Google Shape;308;p20"/>
            <p:cNvSpPr/>
            <p:nvPr/>
          </p:nvSpPr>
          <p:spPr>
            <a:xfrm>
              <a:off x="4557" y="4072"/>
              <a:ext cx="1336" cy="198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900">
                <a:solidFill>
                  <a:srgbClr val="666666"/>
                </a:solidFill>
                <a:sym typeface="+mn-ea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666666"/>
                  </a:solidFill>
                  <a:sym typeface="+mn-ea"/>
                </a:rPr>
                <a:t>Softmax</a:t>
              </a:r>
              <a:endParaRPr sz="900">
                <a:solidFill>
                  <a:srgbClr val="666666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666666"/>
                </a:solidFill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053" y="2338"/>
              <a:ext cx="473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Attention mechanism weights different quality losses</a:t>
              </a:r>
              <a:endParaRPr lang="en-US" altLang="zh-CN" sz="1200"/>
            </a:p>
          </p:txBody>
        </p:sp>
        <p:grpSp>
          <p:nvGrpSpPr>
            <p:cNvPr id="90" name="组合 89"/>
            <p:cNvGrpSpPr/>
            <p:nvPr/>
          </p:nvGrpSpPr>
          <p:grpSpPr>
            <a:xfrm>
              <a:off x="5384" y="3367"/>
              <a:ext cx="5152" cy="2553"/>
              <a:chOff x="8164" y="2501"/>
              <a:chExt cx="5152" cy="2553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9286" y="2501"/>
                <a:ext cx="549" cy="1490"/>
                <a:chOff x="6886" y="1123"/>
                <a:chExt cx="549" cy="1105"/>
              </a:xfrm>
            </p:grpSpPr>
            <p:grpSp>
              <p:nvGrpSpPr>
                <p:cNvPr id="895" name="Google Shape;895;p28"/>
                <p:cNvGrpSpPr/>
                <p:nvPr/>
              </p:nvGrpSpPr>
              <p:grpSpPr>
                <a:xfrm>
                  <a:off x="6886" y="1123"/>
                  <a:ext cx="548" cy="829"/>
                  <a:chOff x="5950075" y="854725"/>
                  <a:chExt cx="1151108" cy="1600273"/>
                </a:xfrm>
              </p:grpSpPr>
              <p:sp>
                <p:nvSpPr>
                  <p:cNvPr id="897" name="Google Shape;897;p28"/>
                  <p:cNvSpPr/>
                  <p:nvPr/>
                </p:nvSpPr>
                <p:spPr>
                  <a:xfrm flipH="1">
                    <a:off x="5950075" y="854725"/>
                    <a:ext cx="1149008" cy="532532"/>
                  </a:xfrm>
                  <a:prstGeom prst="rect">
                    <a:avLst/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altLang="zh-CN" sz="900"/>
                      <a:t>α</a:t>
                    </a:r>
                    <a:r>
                      <a:rPr lang="en-US" altLang="zh-CN" sz="900" baseline="-25000"/>
                      <a:t>1</a:t>
                    </a:r>
                    <a:endParaRPr lang="en-US" altLang="zh-CN" sz="900" baseline="-25000"/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 flipH="1">
                    <a:off x="5950075" y="1387257"/>
                    <a:ext cx="1149008" cy="532532"/>
                  </a:xfrm>
                  <a:prstGeom prst="rect">
                    <a:avLst/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altLang="zh-CN" sz="900">
                        <a:sym typeface="+mn-ea"/>
                      </a:rPr>
                      <a:t>α</a:t>
                    </a:r>
                    <a:r>
                      <a:rPr lang="en-US" altLang="zh-CN" sz="900" baseline="-25000">
                        <a:sym typeface="+mn-ea"/>
                      </a:rPr>
                      <a:t>2</a:t>
                    </a:r>
                    <a:endParaRPr lang="en-US" altLang="zh-CN" sz="900" baseline="-25000">
                      <a:sym typeface="+mn-ea"/>
                    </a:endParaRPr>
                  </a:p>
                </p:txBody>
              </p:sp>
              <p:sp>
                <p:nvSpPr>
                  <p:cNvPr id="907" name="Google Shape;907;p28"/>
                  <p:cNvSpPr/>
                  <p:nvPr/>
                </p:nvSpPr>
                <p:spPr>
                  <a:xfrm flipH="1">
                    <a:off x="5950075" y="1922466"/>
                    <a:ext cx="1151108" cy="532532"/>
                  </a:xfrm>
                  <a:prstGeom prst="rect">
                    <a:avLst/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altLang="zh-CN" sz="900" baseline="-25000">
                        <a:sym typeface="+mn-ea"/>
                      </a:rPr>
                      <a:t>...</a:t>
                    </a:r>
                    <a:endParaRPr lang="en-US" altLang="zh-CN" sz="900" baseline="-25000">
                      <a:sym typeface="+mn-ea"/>
                    </a:endParaRPr>
                  </a:p>
                </p:txBody>
              </p:sp>
            </p:grpSp>
            <p:sp>
              <p:nvSpPr>
                <p:cNvPr id="55" name="Google Shape;907;p28"/>
                <p:cNvSpPr/>
                <p:nvPr/>
              </p:nvSpPr>
              <p:spPr>
                <a:xfrm flipH="1">
                  <a:off x="6886" y="1952"/>
                  <a:ext cx="549" cy="276"/>
                </a:xfrm>
                <a:prstGeom prst="rect">
                  <a:avLst/>
                </a:prstGeom>
                <a:gradFill>
                  <a:gsLst>
                    <a:gs pos="0">
                      <a:srgbClr val="69D4F4">
                        <a:alpha val="26274"/>
                      </a:srgbClr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zh-CN" sz="900">
                      <a:sym typeface="+mn-ea"/>
                    </a:rPr>
                    <a:t>α</a:t>
                  </a:r>
                  <a:r>
                    <a:rPr lang="en-US" altLang="zh-CN" sz="900" baseline="-25000">
                      <a:sym typeface="+mn-ea"/>
                    </a:rPr>
                    <a:t>n</a:t>
                  </a:r>
                  <a:endParaRPr lang="en-US" altLang="zh-CN" sz="900" baseline="-25000"/>
                </a:p>
              </p:txBody>
            </p:sp>
          </p:grpSp>
          <p:sp>
            <p:nvSpPr>
              <p:cNvPr id="58" name="左大括号 57"/>
              <p:cNvSpPr/>
              <p:nvPr/>
            </p:nvSpPr>
            <p:spPr>
              <a:xfrm rot="16200000">
                <a:off x="9360" y="3977"/>
                <a:ext cx="403" cy="550"/>
              </a:xfrm>
              <a:prstGeom prst="leftBrace">
                <a:avLst>
                  <a:gd name="adj1" fmla="val 92493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8164" y="4535"/>
                <a:ext cx="2648" cy="51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sym typeface="+mn-ea"/>
                  </a:rPr>
                  <a:t>quality loss weights of n candidate points</a:t>
                </a:r>
                <a:endParaRPr lang="en-US" altLang="zh-CN" sz="1200"/>
              </a:p>
              <a:p>
                <a:pPr algn="ctr"/>
                <a:endParaRPr lang="en-US" altLang="zh-CN" sz="1200"/>
              </a:p>
            </p:txBody>
          </p:sp>
          <p:sp>
            <p:nvSpPr>
              <p:cNvPr id="65" name="Google Shape;308;p20"/>
              <p:cNvSpPr/>
              <p:nvPr/>
            </p:nvSpPr>
            <p:spPr>
              <a:xfrm>
                <a:off x="10243" y="3206"/>
                <a:ext cx="1336" cy="19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69D4F4">
                      <a:alpha val="26274"/>
                    </a:srgbClr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sz="900">
                  <a:solidFill>
                    <a:srgbClr val="666666"/>
                  </a:solidFill>
                  <a:sym typeface="+mn-ea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en-GB" sz="900">
                    <a:solidFill>
                      <a:srgbClr val="666666"/>
                    </a:solidFill>
                    <a:sym typeface="+mn-ea"/>
                  </a:rPr>
                  <a:t>Argsort</a:t>
                </a:r>
                <a:endParaRPr sz="900">
                  <a:solidFill>
                    <a:srgbClr val="666666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666666"/>
                  </a:solidFill>
                </a:endParaRPr>
              </a:p>
            </p:txBody>
          </p:sp>
          <p:cxnSp>
            <p:nvCxnSpPr>
              <p:cNvPr id="66" name="Google Shape;489;p24"/>
              <p:cNvCxnSpPr>
                <a:endCxn id="65" idx="1"/>
              </p:cNvCxnSpPr>
              <p:nvPr/>
            </p:nvCxnSpPr>
            <p:spPr>
              <a:xfrm flipV="1">
                <a:off x="9871" y="3305"/>
                <a:ext cx="372" cy="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70" name="组合 69"/>
              <p:cNvGrpSpPr/>
              <p:nvPr/>
            </p:nvGrpSpPr>
            <p:grpSpPr>
              <a:xfrm>
                <a:off x="12012" y="2501"/>
                <a:ext cx="551" cy="1490"/>
                <a:chOff x="7051" y="1123"/>
                <a:chExt cx="551" cy="1105"/>
              </a:xfrm>
            </p:grpSpPr>
            <p:grpSp>
              <p:nvGrpSpPr>
                <p:cNvPr id="71" name="Google Shape;895;p28"/>
                <p:cNvGrpSpPr/>
                <p:nvPr/>
              </p:nvGrpSpPr>
              <p:grpSpPr>
                <a:xfrm>
                  <a:off x="7051" y="1123"/>
                  <a:ext cx="551" cy="829"/>
                  <a:chOff x="6295813" y="854725"/>
                  <a:chExt cx="1157410" cy="1600273"/>
                </a:xfrm>
              </p:grpSpPr>
              <p:sp>
                <p:nvSpPr>
                  <p:cNvPr id="72" name="Google Shape;897;p28"/>
                  <p:cNvSpPr/>
                  <p:nvPr/>
                </p:nvSpPr>
                <p:spPr>
                  <a:xfrm flipH="1">
                    <a:off x="6295813" y="854725"/>
                    <a:ext cx="1151108" cy="532548"/>
                  </a:xfrm>
                  <a:prstGeom prst="rect">
                    <a:avLst/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altLang="zh-CN" sz="900"/>
                      <a:t>β</a:t>
                    </a:r>
                    <a:r>
                      <a:rPr lang="en-US" altLang="zh-CN" sz="900" baseline="-25000"/>
                      <a:t>1</a:t>
                    </a:r>
                    <a:endParaRPr lang="en-US" altLang="zh-CN" sz="900" baseline="-25000"/>
                  </a:p>
                </p:txBody>
              </p:sp>
              <p:sp>
                <p:nvSpPr>
                  <p:cNvPr id="73" name="Google Shape;902;p28"/>
                  <p:cNvSpPr/>
                  <p:nvPr/>
                </p:nvSpPr>
                <p:spPr>
                  <a:xfrm flipH="1">
                    <a:off x="6295813" y="1387273"/>
                    <a:ext cx="1157410" cy="532548"/>
                  </a:xfrm>
                  <a:prstGeom prst="rect">
                    <a:avLst/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altLang="zh-CN" sz="900">
                        <a:sym typeface="+mn-ea"/>
                      </a:rPr>
                      <a:t>β</a:t>
                    </a:r>
                    <a:r>
                      <a:rPr lang="en-US" altLang="zh-CN" sz="900" baseline="-25000">
                        <a:sym typeface="+mn-ea"/>
                      </a:rPr>
                      <a:t>2</a:t>
                    </a:r>
                    <a:endParaRPr lang="en-US" altLang="zh-CN" sz="900" baseline="-25000">
                      <a:sym typeface="+mn-ea"/>
                    </a:endParaRPr>
                  </a:p>
                </p:txBody>
              </p:sp>
              <p:sp>
                <p:nvSpPr>
                  <p:cNvPr id="74" name="Google Shape;907;p28"/>
                  <p:cNvSpPr/>
                  <p:nvPr/>
                </p:nvSpPr>
                <p:spPr>
                  <a:xfrm flipH="1">
                    <a:off x="6295813" y="1922466"/>
                    <a:ext cx="1151108" cy="532532"/>
                  </a:xfrm>
                  <a:prstGeom prst="rect">
                    <a:avLst/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59595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altLang="zh-CN" sz="900" baseline="-25000">
                        <a:sym typeface="+mn-ea"/>
                      </a:rPr>
                      <a:t>...</a:t>
                    </a:r>
                    <a:endParaRPr lang="en-US" altLang="zh-CN" sz="900" baseline="-25000">
                      <a:sym typeface="+mn-ea"/>
                    </a:endParaRPr>
                  </a:p>
                </p:txBody>
              </p:sp>
            </p:grpSp>
            <p:sp>
              <p:nvSpPr>
                <p:cNvPr id="75" name="Google Shape;907;p28"/>
                <p:cNvSpPr/>
                <p:nvPr/>
              </p:nvSpPr>
              <p:spPr>
                <a:xfrm flipH="1">
                  <a:off x="7052" y="1952"/>
                  <a:ext cx="549" cy="276"/>
                </a:xfrm>
                <a:prstGeom prst="rect">
                  <a:avLst/>
                </a:prstGeom>
                <a:gradFill>
                  <a:gsLst>
                    <a:gs pos="0">
                      <a:srgbClr val="69D4F4">
                        <a:alpha val="26274"/>
                      </a:srgbClr>
                    </a:gs>
                    <a:gs pos="100000">
                      <a:srgbClr val="9F39D5">
                        <a:alpha val="16862"/>
                      </a:srgbClr>
                    </a:gs>
                  </a:gsLst>
                  <a:lin ang="13500032" scaled="0"/>
                </a:gra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zh-CN" sz="900">
                      <a:sym typeface="+mn-ea"/>
                    </a:rPr>
                    <a:t>β</a:t>
                  </a:r>
                  <a:r>
                    <a:rPr lang="en-US" altLang="zh-CN" sz="900" baseline="-25000">
                      <a:sym typeface="+mn-ea"/>
                    </a:rPr>
                    <a:t>t</a:t>
                  </a:r>
                  <a:endParaRPr lang="en-US" altLang="zh-CN" sz="900" baseline="-25000"/>
                </a:p>
              </p:txBody>
            </p:sp>
          </p:grpSp>
          <p:cxnSp>
            <p:nvCxnSpPr>
              <p:cNvPr id="85" name="Google Shape;489;p24"/>
              <p:cNvCxnSpPr/>
              <p:nvPr/>
            </p:nvCxnSpPr>
            <p:spPr>
              <a:xfrm>
                <a:off x="11676" y="3301"/>
                <a:ext cx="220" cy="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7" name="文本框 86"/>
              <p:cNvSpPr txBox="1"/>
              <p:nvPr/>
            </p:nvSpPr>
            <p:spPr>
              <a:xfrm>
                <a:off x="11180" y="4535"/>
                <a:ext cx="2136" cy="51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/>
                  <a:t>top t weights</a:t>
                </a:r>
                <a:endParaRPr lang="en-US" altLang="zh-CN" sz="1200"/>
              </a:p>
            </p:txBody>
          </p:sp>
          <p:sp>
            <p:nvSpPr>
              <p:cNvPr id="88" name="左大括号 87"/>
              <p:cNvSpPr/>
              <p:nvPr/>
            </p:nvSpPr>
            <p:spPr>
              <a:xfrm rot="16200000">
                <a:off x="12083" y="3969"/>
                <a:ext cx="403" cy="550"/>
              </a:xfrm>
              <a:prstGeom prst="leftBrace">
                <a:avLst>
                  <a:gd name="adj1" fmla="val 92493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10252" y="2701"/>
              <a:ext cx="4259" cy="3525"/>
              <a:chOff x="45" y="462"/>
              <a:chExt cx="4259" cy="3525"/>
            </a:xfrm>
          </p:grpSpPr>
          <p:grpSp>
            <p:nvGrpSpPr>
              <p:cNvPr id="97" name="组合 96"/>
              <p:cNvGrpSpPr/>
              <p:nvPr/>
            </p:nvGrpSpPr>
            <p:grpSpPr>
              <a:xfrm>
                <a:off x="961" y="462"/>
                <a:ext cx="3343" cy="2851"/>
                <a:chOff x="961" y="462"/>
                <a:chExt cx="3343" cy="2851"/>
              </a:xfrm>
            </p:grpSpPr>
            <p:grpSp>
              <p:nvGrpSpPr>
                <p:cNvPr id="98" name="组合 97"/>
                <p:cNvGrpSpPr/>
                <p:nvPr/>
              </p:nvGrpSpPr>
              <p:grpSpPr>
                <a:xfrm>
                  <a:off x="1207" y="462"/>
                  <a:ext cx="2936" cy="2569"/>
                  <a:chOff x="108" y="482"/>
                  <a:chExt cx="2936" cy="2569"/>
                </a:xfrm>
              </p:grpSpPr>
              <p:grpSp>
                <p:nvGrpSpPr>
                  <p:cNvPr id="99" name="组合 98"/>
                  <p:cNvGrpSpPr/>
                  <p:nvPr/>
                </p:nvGrpSpPr>
                <p:grpSpPr>
                  <a:xfrm flipV="1">
                    <a:off x="664" y="1172"/>
                    <a:ext cx="2380" cy="198"/>
                    <a:chOff x="3072" y="3445"/>
                    <a:chExt cx="8254" cy="1210"/>
                  </a:xfrm>
                </p:grpSpPr>
                <p:sp>
                  <p:nvSpPr>
                    <p:cNvPr id="100" name="Google Shape;78;p16"/>
                    <p:cNvSpPr/>
                    <p:nvPr/>
                  </p:nvSpPr>
                  <p:spPr>
                    <a:xfrm>
                      <a:off x="3072" y="3445"/>
                      <a:ext cx="8255" cy="1204"/>
                    </a:xfrm>
                    <a:prstGeom prst="roundRect">
                      <a:avLst>
                        <a:gd name="adj" fmla="val 16667"/>
                      </a:avLst>
                    </a:prstGeom>
                    <a:gradFill>
                      <a:gsLst>
                        <a:gs pos="0">
                          <a:srgbClr val="69D4F4">
                            <a:alpha val="26274"/>
                          </a:srgbClr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101" name="Google Shape;79;p16"/>
                    <p:cNvCxnSpPr/>
                    <p:nvPr/>
                  </p:nvCxnSpPr>
                  <p:spPr>
                    <a:xfrm flipH="1">
                      <a:off x="4280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2" name="Google Shape;80;p16"/>
                    <p:cNvCxnSpPr/>
                    <p:nvPr/>
                  </p:nvCxnSpPr>
                  <p:spPr>
                    <a:xfrm flipH="1">
                      <a:off x="5447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3" name="Google Shape;81;p16"/>
                    <p:cNvCxnSpPr/>
                    <p:nvPr/>
                  </p:nvCxnSpPr>
                  <p:spPr>
                    <a:xfrm flipH="1">
                      <a:off x="6614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4" name="Google Shape;82;p16"/>
                    <p:cNvCxnSpPr/>
                    <p:nvPr/>
                  </p:nvCxnSpPr>
                  <p:spPr>
                    <a:xfrm flipH="1">
                      <a:off x="7780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5" name="Google Shape;83;p16"/>
                    <p:cNvCxnSpPr/>
                    <p:nvPr/>
                  </p:nvCxnSpPr>
                  <p:spPr>
                    <a:xfrm flipH="1">
                      <a:off x="8947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6" name="Google Shape;84;p16"/>
                    <p:cNvCxnSpPr/>
                    <p:nvPr/>
                  </p:nvCxnSpPr>
                  <p:spPr>
                    <a:xfrm flipH="1">
                      <a:off x="10114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grpSp>
                <p:nvGrpSpPr>
                  <p:cNvPr id="107" name="组合 106"/>
                  <p:cNvGrpSpPr/>
                  <p:nvPr/>
                </p:nvGrpSpPr>
                <p:grpSpPr>
                  <a:xfrm flipV="1">
                    <a:off x="664" y="1611"/>
                    <a:ext cx="2380" cy="198"/>
                    <a:chOff x="3072" y="3445"/>
                    <a:chExt cx="8254" cy="1210"/>
                  </a:xfrm>
                </p:grpSpPr>
                <p:sp>
                  <p:nvSpPr>
                    <p:cNvPr id="108" name="Google Shape;78;p16"/>
                    <p:cNvSpPr/>
                    <p:nvPr/>
                  </p:nvSpPr>
                  <p:spPr>
                    <a:xfrm>
                      <a:off x="3072" y="3445"/>
                      <a:ext cx="8255" cy="1204"/>
                    </a:xfrm>
                    <a:prstGeom prst="roundRect">
                      <a:avLst>
                        <a:gd name="adj" fmla="val 16667"/>
                      </a:avLst>
                    </a:prstGeom>
                    <a:gradFill>
                      <a:gsLst>
                        <a:gs pos="0">
                          <a:srgbClr val="69D4F4">
                            <a:alpha val="26274"/>
                          </a:srgbClr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109" name="Google Shape;79;p16"/>
                    <p:cNvCxnSpPr/>
                    <p:nvPr/>
                  </p:nvCxnSpPr>
                  <p:spPr>
                    <a:xfrm flipH="1">
                      <a:off x="4280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0" name="Google Shape;80;p16"/>
                    <p:cNvCxnSpPr/>
                    <p:nvPr/>
                  </p:nvCxnSpPr>
                  <p:spPr>
                    <a:xfrm flipH="1">
                      <a:off x="5447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1" name="Google Shape;81;p16"/>
                    <p:cNvCxnSpPr/>
                    <p:nvPr/>
                  </p:nvCxnSpPr>
                  <p:spPr>
                    <a:xfrm flipH="1">
                      <a:off x="6614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2" name="Google Shape;82;p16"/>
                    <p:cNvCxnSpPr/>
                    <p:nvPr/>
                  </p:nvCxnSpPr>
                  <p:spPr>
                    <a:xfrm flipH="1">
                      <a:off x="7780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3" name="Google Shape;83;p16"/>
                    <p:cNvCxnSpPr/>
                    <p:nvPr/>
                  </p:nvCxnSpPr>
                  <p:spPr>
                    <a:xfrm flipH="1">
                      <a:off x="8947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4" name="Google Shape;84;p16"/>
                    <p:cNvCxnSpPr/>
                    <p:nvPr/>
                  </p:nvCxnSpPr>
                  <p:spPr>
                    <a:xfrm flipH="1">
                      <a:off x="10114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grpSp>
                <p:nvGrpSpPr>
                  <p:cNvPr id="115" name="组合 114"/>
                  <p:cNvGrpSpPr/>
                  <p:nvPr/>
                </p:nvGrpSpPr>
                <p:grpSpPr>
                  <a:xfrm flipV="1">
                    <a:off x="664" y="2465"/>
                    <a:ext cx="2380" cy="198"/>
                    <a:chOff x="3072" y="3445"/>
                    <a:chExt cx="8254" cy="1210"/>
                  </a:xfrm>
                </p:grpSpPr>
                <p:sp>
                  <p:nvSpPr>
                    <p:cNvPr id="116" name="Google Shape;78;p16"/>
                    <p:cNvSpPr/>
                    <p:nvPr/>
                  </p:nvSpPr>
                  <p:spPr>
                    <a:xfrm>
                      <a:off x="3072" y="3445"/>
                      <a:ext cx="8255" cy="1204"/>
                    </a:xfrm>
                    <a:prstGeom prst="roundRect">
                      <a:avLst>
                        <a:gd name="adj" fmla="val 16667"/>
                      </a:avLst>
                    </a:prstGeom>
                    <a:gradFill>
                      <a:gsLst>
                        <a:gs pos="0">
                          <a:srgbClr val="69D4F4">
                            <a:alpha val="26274"/>
                          </a:srgbClr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117" name="Google Shape;79;p16"/>
                    <p:cNvCxnSpPr/>
                    <p:nvPr/>
                  </p:nvCxnSpPr>
                  <p:spPr>
                    <a:xfrm flipH="1">
                      <a:off x="4280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8" name="Google Shape;80;p16"/>
                    <p:cNvCxnSpPr/>
                    <p:nvPr/>
                  </p:nvCxnSpPr>
                  <p:spPr>
                    <a:xfrm flipH="1">
                      <a:off x="5447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9" name="Google Shape;81;p16"/>
                    <p:cNvCxnSpPr/>
                    <p:nvPr/>
                  </p:nvCxnSpPr>
                  <p:spPr>
                    <a:xfrm flipH="1">
                      <a:off x="6614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0" name="Google Shape;82;p16"/>
                    <p:cNvCxnSpPr/>
                    <p:nvPr/>
                  </p:nvCxnSpPr>
                  <p:spPr>
                    <a:xfrm flipH="1">
                      <a:off x="7780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1" name="Google Shape;83;p16"/>
                    <p:cNvCxnSpPr/>
                    <p:nvPr/>
                  </p:nvCxnSpPr>
                  <p:spPr>
                    <a:xfrm flipH="1">
                      <a:off x="8947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2" name="Google Shape;84;p16"/>
                    <p:cNvCxnSpPr/>
                    <p:nvPr/>
                  </p:nvCxnSpPr>
                  <p:spPr>
                    <a:xfrm flipH="1">
                      <a:off x="10114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grpSp>
                <p:nvGrpSpPr>
                  <p:cNvPr id="123" name="组合 122"/>
                  <p:cNvGrpSpPr/>
                  <p:nvPr/>
                </p:nvGrpSpPr>
                <p:grpSpPr>
                  <a:xfrm flipV="1">
                    <a:off x="664" y="2051"/>
                    <a:ext cx="2380" cy="198"/>
                    <a:chOff x="3072" y="3445"/>
                    <a:chExt cx="8254" cy="1210"/>
                  </a:xfrm>
                </p:grpSpPr>
                <p:sp>
                  <p:nvSpPr>
                    <p:cNvPr id="124" name="Google Shape;78;p16"/>
                    <p:cNvSpPr/>
                    <p:nvPr/>
                  </p:nvSpPr>
                  <p:spPr>
                    <a:xfrm>
                      <a:off x="3072" y="3445"/>
                      <a:ext cx="8255" cy="1204"/>
                    </a:xfrm>
                    <a:prstGeom prst="roundRect">
                      <a:avLst>
                        <a:gd name="adj" fmla="val 16667"/>
                      </a:avLst>
                    </a:prstGeom>
                    <a:gradFill>
                      <a:gsLst>
                        <a:gs pos="0">
                          <a:srgbClr val="69D4F4">
                            <a:alpha val="26274"/>
                          </a:srgbClr>
                        </a:gs>
                        <a:gs pos="100000">
                          <a:srgbClr val="9F39D5">
                            <a:alpha val="16862"/>
                          </a:srgbClr>
                        </a:gs>
                      </a:gsLst>
                      <a:lin ang="13500032" scaled="0"/>
                    </a:gradFill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125" name="Google Shape;79;p16"/>
                    <p:cNvCxnSpPr/>
                    <p:nvPr/>
                  </p:nvCxnSpPr>
                  <p:spPr>
                    <a:xfrm flipH="1">
                      <a:off x="4280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6" name="Google Shape;80;p16"/>
                    <p:cNvCxnSpPr/>
                    <p:nvPr/>
                  </p:nvCxnSpPr>
                  <p:spPr>
                    <a:xfrm flipH="1">
                      <a:off x="5447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7" name="Google Shape;81;p16"/>
                    <p:cNvCxnSpPr/>
                    <p:nvPr/>
                  </p:nvCxnSpPr>
                  <p:spPr>
                    <a:xfrm flipH="1">
                      <a:off x="6614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8" name="Google Shape;82;p16"/>
                    <p:cNvCxnSpPr/>
                    <p:nvPr/>
                  </p:nvCxnSpPr>
                  <p:spPr>
                    <a:xfrm flipH="1">
                      <a:off x="7780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9" name="Google Shape;83;p16"/>
                    <p:cNvCxnSpPr/>
                    <p:nvPr/>
                  </p:nvCxnSpPr>
                  <p:spPr>
                    <a:xfrm flipH="1">
                      <a:off x="8947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30" name="Google Shape;84;p16"/>
                    <p:cNvCxnSpPr/>
                    <p:nvPr/>
                  </p:nvCxnSpPr>
                  <p:spPr>
                    <a:xfrm flipH="1">
                      <a:off x="10114" y="3451"/>
                      <a:ext cx="12" cy="1204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31" name="文本框 130"/>
                  <p:cNvSpPr txBox="1"/>
                  <p:nvPr/>
                </p:nvSpPr>
                <p:spPr>
                  <a:xfrm>
                    <a:off x="795" y="482"/>
                    <a:ext cx="2249" cy="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200"/>
                      <a:t>Alternative Set</a:t>
                    </a:r>
                    <a:endParaRPr lang="en-US" altLang="zh-CN" sz="1200"/>
                  </a:p>
                </p:txBody>
              </p:sp>
              <p:sp>
                <p:nvSpPr>
                  <p:cNvPr id="132" name="文本框 131"/>
                  <p:cNvSpPr txBox="1"/>
                  <p:nvPr/>
                </p:nvSpPr>
                <p:spPr>
                  <a:xfrm>
                    <a:off x="108" y="1082"/>
                    <a:ext cx="679" cy="19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r>
                      <a:rPr lang="en-US" altLang="zh-CN" sz="900"/>
                      <a:t>X</a:t>
                    </a:r>
                    <a:r>
                      <a:rPr lang="en-US" altLang="zh-CN" sz="900" baseline="-25000">
                        <a:sym typeface="+mn-ea"/>
                      </a:rPr>
                      <a:t>β1</a:t>
                    </a:r>
                    <a:endParaRPr lang="en-US" altLang="zh-CN" sz="900" baseline="-25000"/>
                  </a:p>
                  <a:p>
                    <a:endParaRPr lang="en-US" altLang="zh-CN" sz="900"/>
                  </a:p>
                  <a:p>
                    <a:r>
                      <a:rPr lang="en-US" altLang="zh-CN" sz="900"/>
                      <a:t>X</a:t>
                    </a:r>
                    <a:r>
                      <a:rPr lang="en-US" altLang="zh-CN" sz="900" baseline="-25000">
                        <a:sym typeface="+mn-ea"/>
                      </a:rPr>
                      <a:t>β2</a:t>
                    </a:r>
                    <a:endParaRPr lang="en-US" altLang="zh-CN" sz="900"/>
                  </a:p>
                  <a:p>
                    <a:endParaRPr lang="en-US" altLang="zh-CN" sz="900"/>
                  </a:p>
                  <a:p>
                    <a:r>
                      <a:rPr lang="en-US" altLang="zh-CN" sz="900"/>
                      <a:t>...</a:t>
                    </a:r>
                    <a:endParaRPr lang="en-US" altLang="zh-CN" sz="900"/>
                  </a:p>
                  <a:p>
                    <a:endParaRPr lang="en-US" altLang="zh-CN" sz="900"/>
                  </a:p>
                  <a:p>
                    <a:r>
                      <a:rPr lang="en-US" altLang="zh-CN" sz="900"/>
                      <a:t>X</a:t>
                    </a:r>
                    <a:r>
                      <a:rPr lang="en-US" altLang="zh-CN" sz="900" baseline="-25000">
                        <a:sym typeface="+mn-ea"/>
                      </a:rPr>
                      <a:t>βt</a:t>
                    </a:r>
                    <a:endParaRPr lang="en-US" altLang="zh-CN" sz="900" baseline="-25000"/>
                  </a:p>
                </p:txBody>
              </p:sp>
            </p:grpSp>
            <p:sp>
              <p:nvSpPr>
                <p:cNvPr id="133" name="左大括号 132"/>
                <p:cNvSpPr/>
                <p:nvPr/>
              </p:nvSpPr>
              <p:spPr>
                <a:xfrm rot="16200000">
                  <a:off x="2751" y="1921"/>
                  <a:ext cx="403" cy="2380"/>
                </a:xfrm>
                <a:prstGeom prst="leftBrace">
                  <a:avLst>
                    <a:gd name="adj1" fmla="val 0"/>
                    <a:gd name="adj2" fmla="val 50000"/>
                  </a:avLst>
                </a:prstGeom>
                <a:ln w="9525" cap="flat" cmpd="sng" algn="ctr">
                  <a:solidFill>
                    <a:prstClr val="black"/>
                  </a:solidFill>
                  <a:prstDash val="dash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4" name="左大括号 133"/>
                <p:cNvSpPr/>
                <p:nvPr/>
              </p:nvSpPr>
              <p:spPr>
                <a:xfrm>
                  <a:off x="961" y="1151"/>
                  <a:ext cx="403" cy="1491"/>
                </a:xfrm>
                <a:prstGeom prst="leftBrace">
                  <a:avLst>
                    <a:gd name="adj1" fmla="val 0"/>
                    <a:gd name="adj2" fmla="val 50000"/>
                  </a:avLst>
                </a:prstGeom>
                <a:ln w="9525" cap="flat" cmpd="sng" algn="ctr">
                  <a:solidFill>
                    <a:prstClr val="black"/>
                  </a:solidFill>
                  <a:prstDash val="dash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5" name="文本框 134"/>
                <p:cNvSpPr txBox="1"/>
                <p:nvPr/>
              </p:nvSpPr>
              <p:spPr>
                <a:xfrm>
                  <a:off x="1710" y="2656"/>
                  <a:ext cx="2594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900"/>
                    <a:t> d</a:t>
                  </a:r>
                  <a:r>
                    <a:rPr lang="en-US" altLang="zh-CN" sz="900" baseline="-25000"/>
                    <a:t>1</a:t>
                  </a:r>
                  <a:r>
                    <a:rPr lang="en-US" altLang="zh-CN" sz="900"/>
                    <a:t>   d</a:t>
                  </a:r>
                  <a:r>
                    <a:rPr lang="en-US" altLang="zh-CN" sz="900" baseline="-25000"/>
                    <a:t>2</a:t>
                  </a:r>
                  <a:r>
                    <a:rPr lang="en-US" altLang="zh-CN" sz="900"/>
                    <a:t>   d</a:t>
                  </a:r>
                  <a:r>
                    <a:rPr lang="en-US" altLang="zh-CN" sz="900" baseline="-25000"/>
                    <a:t>3 </a:t>
                  </a:r>
                  <a:r>
                    <a:rPr lang="en-US" altLang="zh-CN" sz="900"/>
                    <a:t>   d</a:t>
                  </a:r>
                  <a:r>
                    <a:rPr lang="en-US" altLang="zh-CN" sz="900" baseline="-25000"/>
                    <a:t>4  </a:t>
                  </a:r>
                  <a:r>
                    <a:rPr lang="en-US" altLang="zh-CN" sz="900"/>
                    <a:t>   d</a:t>
                  </a:r>
                  <a:r>
                    <a:rPr lang="en-US" altLang="zh-CN" sz="900" baseline="-25000"/>
                    <a:t>5</a:t>
                  </a:r>
                  <a:r>
                    <a:rPr lang="en-US" altLang="zh-CN" sz="900"/>
                    <a:t>   ...    d</a:t>
                  </a:r>
                  <a:r>
                    <a:rPr lang="en-US" altLang="zh-CN" sz="900" baseline="-25000"/>
                    <a:t>k</a:t>
                  </a:r>
                  <a:endParaRPr lang="en-US" altLang="zh-CN" sz="900" baseline="-25000"/>
                </a:p>
              </p:txBody>
            </p:sp>
          </p:grpSp>
          <p:sp>
            <p:nvSpPr>
              <p:cNvPr id="136" name="文本框 135"/>
              <p:cNvSpPr txBox="1"/>
              <p:nvPr/>
            </p:nvSpPr>
            <p:spPr>
              <a:xfrm rot="10800000">
                <a:off x="45" y="606"/>
                <a:ext cx="814" cy="307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pPr algn="ctr"/>
                <a:r>
                  <a:rPr lang="en-US" altLang="zh-CN" sz="1200"/>
                  <a:t>The t points with the largest quality loss weight</a:t>
                </a:r>
                <a:endParaRPr lang="en-US" altLang="zh-CN" sz="1200"/>
              </a:p>
            </p:txBody>
          </p:sp>
          <p:sp>
            <p:nvSpPr>
              <p:cNvPr id="137" name="文本框 136"/>
              <p:cNvSpPr txBox="1"/>
              <p:nvPr/>
            </p:nvSpPr>
            <p:spPr>
              <a:xfrm>
                <a:off x="1763" y="3262"/>
                <a:ext cx="241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/>
                  <a:t>k dimensions of the point</a:t>
                </a:r>
                <a:endParaRPr lang="en-US" altLang="zh-CN" sz="1200"/>
              </a:p>
            </p:txBody>
          </p:sp>
        </p:grpSp>
      </p:grpSp>
      <p:sp>
        <p:nvSpPr>
          <p:cNvPr id="140" name="Google Shape;308;p20"/>
          <p:cNvSpPr/>
          <p:nvPr/>
        </p:nvSpPr>
        <p:spPr>
          <a:xfrm>
            <a:off x="8069580" y="3275330"/>
            <a:ext cx="848360" cy="12573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>
              <a:solidFill>
                <a:srgbClr val="666666"/>
              </a:solidFill>
              <a:sym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66666"/>
                </a:solidFill>
                <a:sym typeface="+mn-ea"/>
              </a:rPr>
              <a:t>Softmax</a:t>
            </a:r>
            <a:endParaRPr sz="120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666666"/>
              </a:solidFill>
            </a:endParaRPr>
          </a:p>
        </p:txBody>
      </p:sp>
      <p:cxnSp>
        <p:nvCxnSpPr>
          <p:cNvPr id="57" name="Google Shape;489;p24"/>
          <p:cNvCxnSpPr/>
          <p:nvPr/>
        </p:nvCxnSpPr>
        <p:spPr>
          <a:xfrm flipV="1">
            <a:off x="2606675" y="1269365"/>
            <a:ext cx="197485" cy="571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489;p24"/>
          <p:cNvCxnSpPr/>
          <p:nvPr/>
        </p:nvCxnSpPr>
        <p:spPr>
          <a:xfrm flipV="1">
            <a:off x="3833495" y="1275080"/>
            <a:ext cx="237490" cy="571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489;p24"/>
          <p:cNvCxnSpPr/>
          <p:nvPr/>
        </p:nvCxnSpPr>
        <p:spPr>
          <a:xfrm flipV="1">
            <a:off x="6307455" y="1257935"/>
            <a:ext cx="237490" cy="571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肘形连接符 66"/>
          <p:cNvCxnSpPr/>
          <p:nvPr/>
        </p:nvCxnSpPr>
        <p:spPr>
          <a:xfrm flipH="1">
            <a:off x="8917940" y="1111885"/>
            <a:ext cx="172085" cy="2226310"/>
          </a:xfrm>
          <a:prstGeom prst="bentConnector3">
            <a:avLst>
              <a:gd name="adj1" fmla="val -482287"/>
            </a:avLst>
          </a:prstGeom>
          <a:ln w="1905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7" name="组合 146"/>
          <p:cNvGrpSpPr/>
          <p:nvPr/>
        </p:nvGrpSpPr>
        <p:grpSpPr>
          <a:xfrm>
            <a:off x="7004685" y="2887345"/>
            <a:ext cx="347980" cy="946150"/>
            <a:chOff x="10742" y="4547"/>
            <a:chExt cx="548" cy="1490"/>
          </a:xfrm>
        </p:grpSpPr>
        <p:sp>
          <p:nvSpPr>
            <p:cNvPr id="69" name="Google Shape;897;p28"/>
            <p:cNvSpPr/>
            <p:nvPr/>
          </p:nvSpPr>
          <p:spPr>
            <a:xfrm flipH="1">
              <a:off x="10742" y="4547"/>
              <a:ext cx="547" cy="372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900"/>
                <a:t>γ</a:t>
              </a:r>
              <a:r>
                <a:rPr lang="en-US" altLang="zh-CN" sz="900" baseline="-25000"/>
                <a:t>1</a:t>
              </a:r>
              <a:endParaRPr lang="en-US" altLang="zh-CN" sz="900" baseline="-25000"/>
            </a:p>
          </p:txBody>
        </p:sp>
        <p:sp>
          <p:nvSpPr>
            <p:cNvPr id="139" name="Google Shape;902;p28"/>
            <p:cNvSpPr/>
            <p:nvPr/>
          </p:nvSpPr>
          <p:spPr>
            <a:xfrm flipH="1">
              <a:off x="10742" y="4919"/>
              <a:ext cx="547" cy="372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900">
                  <a:sym typeface="+mn-ea"/>
                </a:rPr>
                <a:t>γ</a:t>
              </a:r>
              <a:r>
                <a:rPr lang="en-US" altLang="zh-CN" sz="900" baseline="-25000">
                  <a:sym typeface="+mn-ea"/>
                </a:rPr>
                <a:t>2</a:t>
              </a:r>
              <a:endParaRPr lang="en-US" altLang="zh-CN" sz="900" baseline="-25000">
                <a:sym typeface="+mn-ea"/>
              </a:endParaRPr>
            </a:p>
          </p:txBody>
        </p:sp>
        <p:sp>
          <p:nvSpPr>
            <p:cNvPr id="144" name="Google Shape;907;p28"/>
            <p:cNvSpPr/>
            <p:nvPr/>
          </p:nvSpPr>
          <p:spPr>
            <a:xfrm flipH="1">
              <a:off x="10742" y="5293"/>
              <a:ext cx="548" cy="372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900" baseline="-25000">
                  <a:sym typeface="+mn-ea"/>
                </a:rPr>
                <a:t>...</a:t>
              </a:r>
              <a:endParaRPr lang="en-US" altLang="zh-CN" sz="900" baseline="-25000">
                <a:sym typeface="+mn-ea"/>
              </a:endParaRPr>
            </a:p>
          </p:txBody>
        </p:sp>
        <p:sp>
          <p:nvSpPr>
            <p:cNvPr id="145" name="Google Shape;907;p28"/>
            <p:cNvSpPr/>
            <p:nvPr/>
          </p:nvSpPr>
          <p:spPr>
            <a:xfrm flipH="1">
              <a:off x="10742" y="5665"/>
              <a:ext cx="549" cy="372"/>
            </a:xfrm>
            <a:prstGeom prst="rect">
              <a:avLst/>
            </a:prstGeom>
            <a:gradFill>
              <a:gsLst>
                <a:gs pos="0">
                  <a:srgbClr val="69D4F4">
                    <a:alpha val="26274"/>
                  </a:srgbClr>
                </a:gs>
                <a:gs pos="100000">
                  <a:srgbClr val="9F39D5">
                    <a:alpha val="16862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900"/>
                <a:t>γ</a:t>
              </a:r>
              <a:r>
                <a:rPr lang="en-US" altLang="zh-CN" sz="900" baseline="-25000"/>
                <a:t>t</a:t>
              </a:r>
              <a:endParaRPr lang="en-US" altLang="zh-CN" sz="900" baseline="-25000"/>
            </a:p>
          </p:txBody>
        </p:sp>
      </p:grpSp>
      <p:cxnSp>
        <p:nvCxnSpPr>
          <p:cNvPr id="146" name="Google Shape;489;p24"/>
          <p:cNvCxnSpPr/>
          <p:nvPr/>
        </p:nvCxnSpPr>
        <p:spPr>
          <a:xfrm flipH="1">
            <a:off x="7545070" y="3340735"/>
            <a:ext cx="325755" cy="254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8" name="Google Shape;308;p20"/>
          <p:cNvSpPr/>
          <p:nvPr/>
        </p:nvSpPr>
        <p:spPr>
          <a:xfrm>
            <a:off x="5696585" y="3275330"/>
            <a:ext cx="848360" cy="12573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>
              <a:solidFill>
                <a:srgbClr val="666666"/>
              </a:solidFill>
              <a:sym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>
                <a:solidFill>
                  <a:srgbClr val="666666"/>
                </a:solidFill>
                <a:sym typeface="+mn-ea"/>
              </a:rPr>
              <a:t>Argmax</a:t>
            </a:r>
            <a:endParaRPr sz="120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666666"/>
              </a:solidFill>
            </a:endParaRPr>
          </a:p>
        </p:txBody>
      </p:sp>
      <p:cxnSp>
        <p:nvCxnSpPr>
          <p:cNvPr id="149" name="Google Shape;489;p24"/>
          <p:cNvCxnSpPr/>
          <p:nvPr/>
        </p:nvCxnSpPr>
        <p:spPr>
          <a:xfrm flipH="1">
            <a:off x="6611620" y="3335655"/>
            <a:ext cx="325755" cy="254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Google Shape;897;p28"/>
          <p:cNvSpPr/>
          <p:nvPr/>
        </p:nvSpPr>
        <p:spPr>
          <a:xfrm flipH="1">
            <a:off x="4782820" y="3192780"/>
            <a:ext cx="435610" cy="236220"/>
          </a:xfrm>
          <a:prstGeom prst="rect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/>
              <a:t>γ</a:t>
            </a:r>
            <a:r>
              <a:rPr lang="en-US" altLang="zh-CN" sz="900" baseline="-25000"/>
              <a:t>max</a:t>
            </a:r>
            <a:endParaRPr lang="en-US" altLang="zh-CN" sz="900" baseline="-25000"/>
          </a:p>
        </p:txBody>
      </p:sp>
      <p:cxnSp>
        <p:nvCxnSpPr>
          <p:cNvPr id="152" name="Google Shape;489;p24"/>
          <p:cNvCxnSpPr/>
          <p:nvPr/>
        </p:nvCxnSpPr>
        <p:spPr>
          <a:xfrm flipH="1">
            <a:off x="5334000" y="3340735"/>
            <a:ext cx="325755" cy="254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左大括号 152"/>
          <p:cNvSpPr/>
          <p:nvPr/>
        </p:nvSpPr>
        <p:spPr>
          <a:xfrm rot="16200000">
            <a:off x="7049135" y="3833495"/>
            <a:ext cx="255905" cy="349250"/>
          </a:xfrm>
          <a:prstGeom prst="leftBrace">
            <a:avLst>
              <a:gd name="adj1" fmla="val 92493"/>
              <a:gd name="adj2" fmla="val 50000"/>
            </a:avLst>
          </a:prstGeom>
          <a:ln w="9525" cap="flat" cmpd="sng" algn="ctr">
            <a:solidFill>
              <a:prstClr val="black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4" name="文本框 153"/>
          <p:cNvSpPr txBox="1"/>
          <p:nvPr/>
        </p:nvSpPr>
        <p:spPr>
          <a:xfrm>
            <a:off x="6354445" y="4136390"/>
            <a:ext cx="171513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/>
              <a:t>Space-filling performance weight</a:t>
            </a:r>
            <a:endParaRPr lang="en-US" altLang="zh-CN" sz="1200"/>
          </a:p>
        </p:txBody>
      </p:sp>
      <p:cxnSp>
        <p:nvCxnSpPr>
          <p:cNvPr id="167" name="Google Shape;489;p24"/>
          <p:cNvCxnSpPr/>
          <p:nvPr/>
        </p:nvCxnSpPr>
        <p:spPr>
          <a:xfrm flipH="1">
            <a:off x="4544695" y="3335655"/>
            <a:ext cx="172085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9" name="组合 168"/>
          <p:cNvGrpSpPr/>
          <p:nvPr/>
        </p:nvGrpSpPr>
        <p:grpSpPr>
          <a:xfrm>
            <a:off x="2064385" y="2687452"/>
            <a:ext cx="2508885" cy="1778635"/>
            <a:chOff x="353" y="1551"/>
            <a:chExt cx="3951" cy="2801"/>
          </a:xfrm>
        </p:grpSpPr>
        <p:grpSp>
          <p:nvGrpSpPr>
            <p:cNvPr id="170" name="组合 169"/>
            <p:cNvGrpSpPr/>
            <p:nvPr/>
          </p:nvGrpSpPr>
          <p:grpSpPr>
            <a:xfrm>
              <a:off x="961" y="2135"/>
              <a:ext cx="3343" cy="1178"/>
              <a:chOff x="961" y="2135"/>
              <a:chExt cx="3343" cy="1178"/>
            </a:xfrm>
          </p:grpSpPr>
          <p:grpSp>
            <p:nvGrpSpPr>
              <p:cNvPr id="171" name="组合 170"/>
              <p:cNvGrpSpPr/>
              <p:nvPr/>
            </p:nvGrpSpPr>
            <p:grpSpPr>
              <a:xfrm>
                <a:off x="1207" y="2135"/>
                <a:ext cx="2936" cy="508"/>
                <a:chOff x="108" y="2155"/>
                <a:chExt cx="2936" cy="508"/>
              </a:xfrm>
            </p:grpSpPr>
            <p:grpSp>
              <p:nvGrpSpPr>
                <p:cNvPr id="188" name="组合 187"/>
                <p:cNvGrpSpPr/>
                <p:nvPr/>
              </p:nvGrpSpPr>
              <p:grpSpPr>
                <a:xfrm flipV="1">
                  <a:off x="664" y="2465"/>
                  <a:ext cx="2380" cy="198"/>
                  <a:chOff x="3072" y="3445"/>
                  <a:chExt cx="8254" cy="1210"/>
                </a:xfrm>
              </p:grpSpPr>
              <p:sp>
                <p:nvSpPr>
                  <p:cNvPr id="189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190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91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92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93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94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95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205" name="文本框 204"/>
                <p:cNvSpPr txBox="1"/>
                <p:nvPr/>
              </p:nvSpPr>
              <p:spPr>
                <a:xfrm>
                  <a:off x="108" y="2155"/>
                  <a:ext cx="1055" cy="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endParaRPr lang="en-US" altLang="zh-CN" sz="900"/>
                </a:p>
                <a:p>
                  <a:r>
                    <a:rPr lang="en-US" altLang="zh-CN" sz="900">
                      <a:sym typeface="+mn-ea"/>
                    </a:rPr>
                    <a:t>X</a:t>
                  </a:r>
                  <a:r>
                    <a:rPr lang="en-US" altLang="zh-CN" sz="900" baseline="-25000">
                      <a:sym typeface="+mn-ea"/>
                    </a:rPr>
                    <a:t>γmax</a:t>
                  </a:r>
                  <a:endParaRPr lang="en-US" altLang="zh-CN" sz="900"/>
                </a:p>
                <a:p>
                  <a:endParaRPr lang="en-US" altLang="zh-CN" sz="900" baseline="-25000"/>
                </a:p>
              </p:txBody>
            </p:sp>
          </p:grpSp>
          <p:sp>
            <p:nvSpPr>
              <p:cNvPr id="206" name="左大括号 205"/>
              <p:cNvSpPr/>
              <p:nvPr/>
            </p:nvSpPr>
            <p:spPr>
              <a:xfrm rot="16200000">
                <a:off x="2751" y="1921"/>
                <a:ext cx="403" cy="2380"/>
              </a:xfrm>
              <a:prstGeom prst="leftBrace">
                <a:avLst>
                  <a:gd name="adj1" fmla="val 0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7" name="左大括号 206"/>
              <p:cNvSpPr/>
              <p:nvPr/>
            </p:nvSpPr>
            <p:spPr>
              <a:xfrm>
                <a:off x="961" y="2445"/>
                <a:ext cx="372" cy="197"/>
              </a:xfrm>
              <a:prstGeom prst="leftBrace">
                <a:avLst>
                  <a:gd name="adj1" fmla="val 0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8" name="文本框 207"/>
              <p:cNvSpPr txBox="1"/>
              <p:nvPr/>
            </p:nvSpPr>
            <p:spPr>
              <a:xfrm>
                <a:off x="1710" y="2656"/>
                <a:ext cx="259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900"/>
                  <a:t> d</a:t>
                </a:r>
                <a:r>
                  <a:rPr lang="en-US" altLang="zh-CN" sz="900" baseline="-25000"/>
                  <a:t>1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2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3 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4  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5</a:t>
                </a:r>
                <a:r>
                  <a:rPr lang="en-US" altLang="zh-CN" sz="900"/>
                  <a:t>   ...    d</a:t>
                </a:r>
                <a:r>
                  <a:rPr lang="en-US" altLang="zh-CN" sz="900" baseline="-25000"/>
                  <a:t>k</a:t>
                </a:r>
                <a:endParaRPr lang="en-US" altLang="zh-CN" sz="900" baseline="-25000"/>
              </a:p>
            </p:txBody>
          </p:sp>
        </p:grpSp>
        <p:sp>
          <p:nvSpPr>
            <p:cNvPr id="209" name="文本框 208"/>
            <p:cNvSpPr txBox="1"/>
            <p:nvPr/>
          </p:nvSpPr>
          <p:spPr>
            <a:xfrm rot="10800000">
              <a:off x="353" y="1551"/>
              <a:ext cx="578" cy="280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en-US" altLang="zh-CN" sz="1200"/>
                <a:t>Add Experiment Point</a:t>
              </a:r>
              <a:endParaRPr lang="en-US" altLang="zh-CN" sz="1200"/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1763" y="3262"/>
              <a:ext cx="241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k dimensions of the point</a:t>
              </a:r>
              <a:endParaRPr lang="en-US" altLang="zh-CN" sz="1200"/>
            </a:p>
          </p:txBody>
        </p:sp>
      </p:grpSp>
      <p:sp>
        <p:nvSpPr>
          <p:cNvPr id="212" name="文本框 211"/>
          <p:cNvSpPr txBox="1"/>
          <p:nvPr/>
        </p:nvSpPr>
        <p:spPr>
          <a:xfrm>
            <a:off x="2450465" y="4572635"/>
            <a:ext cx="6333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Attention mechanism weights different space-filling performance</a:t>
            </a:r>
            <a:endParaRPr lang="en-US" altLang="zh-CN" sz="1200"/>
          </a:p>
        </p:txBody>
      </p:sp>
      <p:sp>
        <p:nvSpPr>
          <p:cNvPr id="213" name="Google Shape;308;p20"/>
          <p:cNvSpPr/>
          <p:nvPr/>
        </p:nvSpPr>
        <p:spPr>
          <a:xfrm>
            <a:off x="819785" y="3255645"/>
            <a:ext cx="848360" cy="12573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>
              <a:solidFill>
                <a:srgbClr val="666666"/>
              </a:solidFill>
              <a:sym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>
                <a:solidFill>
                  <a:srgbClr val="666666"/>
                </a:solidFill>
              </a:rPr>
              <a:t>Loop</a:t>
            </a:r>
            <a:endParaRPr lang="en-US" altLang="zh-CN" sz="120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>
              <a:solidFill>
                <a:srgbClr val="666666"/>
              </a:solidFill>
            </a:endParaRPr>
          </a:p>
        </p:txBody>
      </p:sp>
      <p:cxnSp>
        <p:nvCxnSpPr>
          <p:cNvPr id="214" name="Google Shape;489;p24"/>
          <p:cNvCxnSpPr/>
          <p:nvPr/>
        </p:nvCxnSpPr>
        <p:spPr>
          <a:xfrm flipH="1">
            <a:off x="1738630" y="3333115"/>
            <a:ext cx="325755" cy="254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肘形连接符 214"/>
          <p:cNvCxnSpPr>
            <a:stCxn id="213" idx="1"/>
            <a:endCxn id="257" idx="3"/>
          </p:cNvCxnSpPr>
          <p:nvPr/>
        </p:nvCxnSpPr>
        <p:spPr>
          <a:xfrm rot="10800000" flipH="1" flipV="1">
            <a:off x="819785" y="3318510"/>
            <a:ext cx="94615" cy="2498090"/>
          </a:xfrm>
          <a:prstGeom prst="bentConnector3">
            <a:avLst>
              <a:gd name="adj1" fmla="val -251678"/>
            </a:avLst>
          </a:prstGeom>
          <a:ln w="1905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6" name="Google Shape;308;p20"/>
          <p:cNvSpPr/>
          <p:nvPr/>
        </p:nvSpPr>
        <p:spPr>
          <a:xfrm>
            <a:off x="4249420" y="5585460"/>
            <a:ext cx="1012825" cy="3454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900">
              <a:solidFill>
                <a:srgbClr val="666666"/>
              </a:solidFill>
              <a:sym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>
                <a:solidFill>
                  <a:srgbClr val="666666"/>
                </a:solidFill>
              </a:rPr>
              <a:t>Genetic algorithm</a:t>
            </a:r>
            <a:endParaRPr lang="en-US" altLang="zh-CN" sz="1200">
              <a:solidFill>
                <a:srgbClr val="6666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>
              <a:solidFill>
                <a:srgbClr val="666666"/>
              </a:solidFill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914400" y="4789302"/>
            <a:ext cx="3453765" cy="2055495"/>
            <a:chOff x="-293" y="534"/>
            <a:chExt cx="5439" cy="3237"/>
          </a:xfrm>
        </p:grpSpPr>
        <p:grpSp>
          <p:nvGrpSpPr>
            <p:cNvPr id="218" name="组合 217"/>
            <p:cNvGrpSpPr/>
            <p:nvPr/>
          </p:nvGrpSpPr>
          <p:grpSpPr>
            <a:xfrm>
              <a:off x="961" y="700"/>
              <a:ext cx="3343" cy="2613"/>
              <a:chOff x="961" y="700"/>
              <a:chExt cx="3343" cy="2613"/>
            </a:xfrm>
          </p:grpSpPr>
          <p:grpSp>
            <p:nvGrpSpPr>
              <p:cNvPr id="219" name="组合 218"/>
              <p:cNvGrpSpPr/>
              <p:nvPr/>
            </p:nvGrpSpPr>
            <p:grpSpPr>
              <a:xfrm>
                <a:off x="1207" y="700"/>
                <a:ext cx="2936" cy="2331"/>
                <a:chOff x="108" y="720"/>
                <a:chExt cx="2936" cy="2331"/>
              </a:xfrm>
            </p:grpSpPr>
            <p:grpSp>
              <p:nvGrpSpPr>
                <p:cNvPr id="220" name="组合 219"/>
                <p:cNvGrpSpPr/>
                <p:nvPr/>
              </p:nvGrpSpPr>
              <p:grpSpPr>
                <a:xfrm flipV="1">
                  <a:off x="664" y="1172"/>
                  <a:ext cx="2380" cy="198"/>
                  <a:chOff x="3072" y="3445"/>
                  <a:chExt cx="8254" cy="1210"/>
                </a:xfrm>
              </p:grpSpPr>
              <p:sp>
                <p:nvSpPr>
                  <p:cNvPr id="221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222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3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4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5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6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7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228" name="组合 227"/>
                <p:cNvGrpSpPr/>
                <p:nvPr/>
              </p:nvGrpSpPr>
              <p:grpSpPr>
                <a:xfrm flipV="1">
                  <a:off x="664" y="1611"/>
                  <a:ext cx="2380" cy="198"/>
                  <a:chOff x="3072" y="3445"/>
                  <a:chExt cx="8254" cy="1210"/>
                </a:xfrm>
              </p:grpSpPr>
              <p:sp>
                <p:nvSpPr>
                  <p:cNvPr id="229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230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31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32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33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34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35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236" name="组合 235"/>
                <p:cNvGrpSpPr/>
                <p:nvPr/>
              </p:nvGrpSpPr>
              <p:grpSpPr>
                <a:xfrm flipV="1">
                  <a:off x="664" y="2465"/>
                  <a:ext cx="2380" cy="198"/>
                  <a:chOff x="3072" y="3445"/>
                  <a:chExt cx="8254" cy="1210"/>
                </a:xfrm>
              </p:grpSpPr>
              <p:sp>
                <p:nvSpPr>
                  <p:cNvPr id="237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238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39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40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41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42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43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244" name="组合 243"/>
                <p:cNvGrpSpPr/>
                <p:nvPr/>
              </p:nvGrpSpPr>
              <p:grpSpPr>
                <a:xfrm flipV="1">
                  <a:off x="664" y="2051"/>
                  <a:ext cx="2380" cy="198"/>
                  <a:chOff x="3072" y="3445"/>
                  <a:chExt cx="8254" cy="1210"/>
                </a:xfrm>
              </p:grpSpPr>
              <p:sp>
                <p:nvSpPr>
                  <p:cNvPr id="245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246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47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48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49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50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51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252" name="文本框 251"/>
                <p:cNvSpPr txBox="1"/>
                <p:nvPr/>
              </p:nvSpPr>
              <p:spPr>
                <a:xfrm>
                  <a:off x="1230" y="720"/>
                  <a:ext cx="1284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Final Set  </a:t>
                  </a:r>
                  <a:endParaRPr lang="en-US" altLang="zh-CN" sz="1200"/>
                </a:p>
              </p:txBody>
            </p:sp>
            <p:sp>
              <p:nvSpPr>
                <p:cNvPr id="253" name="文本框 252"/>
                <p:cNvSpPr txBox="1"/>
                <p:nvPr/>
              </p:nvSpPr>
              <p:spPr>
                <a:xfrm>
                  <a:off x="108" y="1082"/>
                  <a:ext cx="556" cy="19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 sz="900"/>
                    <a:t>X</a:t>
                  </a:r>
                  <a:r>
                    <a:rPr lang="en-US" altLang="zh-CN" sz="900" baseline="-25000"/>
                    <a:t>1</a:t>
                  </a:r>
                  <a:endParaRPr lang="en-US" altLang="zh-CN" sz="900"/>
                </a:p>
                <a:p>
                  <a:endParaRPr lang="en-US" altLang="zh-CN" sz="900"/>
                </a:p>
                <a:p>
                  <a:pPr algn="l">
                    <a:buSzTx/>
                  </a:pPr>
                  <a:r>
                    <a:rPr lang="en-US" altLang="zh-CN" sz="900"/>
                    <a:t>X</a:t>
                  </a:r>
                  <a:r>
                    <a:rPr lang="en-US" altLang="zh-CN" sz="900" baseline="-25000"/>
                    <a:t>2</a:t>
                  </a:r>
                  <a:endParaRPr lang="en-US" altLang="zh-CN" sz="900"/>
                </a:p>
                <a:p>
                  <a:endParaRPr lang="en-US" altLang="zh-CN" sz="900"/>
                </a:p>
                <a:p>
                  <a:r>
                    <a:rPr lang="en-US" altLang="zh-CN" sz="900"/>
                    <a:t>...</a:t>
                  </a:r>
                  <a:endParaRPr lang="en-US" altLang="zh-CN" sz="900"/>
                </a:p>
                <a:p>
                  <a:endParaRPr lang="en-US" altLang="zh-CN" sz="900"/>
                </a:p>
                <a:p>
                  <a:r>
                    <a:rPr lang="en-US" altLang="zh-CN" sz="900"/>
                    <a:t>X</a:t>
                  </a:r>
                  <a:r>
                    <a:rPr lang="en-US" altLang="zh-CN" sz="900" baseline="-25000"/>
                    <a:t>m</a:t>
                  </a:r>
                  <a:endParaRPr lang="en-US" altLang="zh-CN" sz="900" baseline="-25000"/>
                </a:p>
              </p:txBody>
            </p:sp>
          </p:grpSp>
          <p:sp>
            <p:nvSpPr>
              <p:cNvPr id="254" name="左大括号 253"/>
              <p:cNvSpPr/>
              <p:nvPr/>
            </p:nvSpPr>
            <p:spPr>
              <a:xfrm rot="16200000">
                <a:off x="2751" y="1921"/>
                <a:ext cx="403" cy="2380"/>
              </a:xfrm>
              <a:prstGeom prst="leftBrace">
                <a:avLst>
                  <a:gd name="adj1" fmla="val 0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5" name="左大括号 254"/>
              <p:cNvSpPr/>
              <p:nvPr/>
            </p:nvSpPr>
            <p:spPr>
              <a:xfrm>
                <a:off x="961" y="1151"/>
                <a:ext cx="403" cy="1491"/>
              </a:xfrm>
              <a:prstGeom prst="leftBrace">
                <a:avLst>
                  <a:gd name="adj1" fmla="val 0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6" name="文本框 255"/>
              <p:cNvSpPr txBox="1"/>
              <p:nvPr/>
            </p:nvSpPr>
            <p:spPr>
              <a:xfrm>
                <a:off x="1710" y="2656"/>
                <a:ext cx="259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900"/>
                  <a:t> d</a:t>
                </a:r>
                <a:r>
                  <a:rPr lang="en-US" altLang="zh-CN" sz="900" baseline="-25000"/>
                  <a:t>1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2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3 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4  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5</a:t>
                </a:r>
                <a:r>
                  <a:rPr lang="en-US" altLang="zh-CN" sz="900"/>
                  <a:t>   ...    d</a:t>
                </a:r>
                <a:r>
                  <a:rPr lang="en-US" altLang="zh-CN" sz="900" baseline="-25000"/>
                  <a:t>k</a:t>
                </a:r>
                <a:endParaRPr lang="en-US" altLang="zh-CN" sz="900" baseline="-25000"/>
              </a:p>
            </p:txBody>
          </p:sp>
        </p:grpSp>
        <p:sp>
          <p:nvSpPr>
            <p:cNvPr id="257" name="文本框 256"/>
            <p:cNvSpPr txBox="1"/>
            <p:nvPr/>
          </p:nvSpPr>
          <p:spPr>
            <a:xfrm rot="10800000">
              <a:off x="-293" y="534"/>
              <a:ext cx="1160" cy="323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en-US" altLang="zh-CN" sz="1200"/>
                <a:t>a total of m points from the initial training set and weighted selection</a:t>
              </a:r>
              <a:endParaRPr lang="en-US" altLang="zh-CN" sz="1200"/>
            </a:p>
          </p:txBody>
        </p:sp>
        <p:sp>
          <p:nvSpPr>
            <p:cNvPr id="258" name="文本框 257"/>
            <p:cNvSpPr txBox="1"/>
            <p:nvPr/>
          </p:nvSpPr>
          <p:spPr>
            <a:xfrm>
              <a:off x="1540" y="3262"/>
              <a:ext cx="360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k dimensions of the point</a:t>
              </a:r>
              <a:endParaRPr lang="en-US" altLang="zh-CN" sz="1200"/>
            </a:p>
          </p:txBody>
        </p:sp>
      </p:grpSp>
      <p:cxnSp>
        <p:nvCxnSpPr>
          <p:cNvPr id="260" name="Google Shape;489;p24"/>
          <p:cNvCxnSpPr/>
          <p:nvPr/>
        </p:nvCxnSpPr>
        <p:spPr>
          <a:xfrm flipV="1">
            <a:off x="3872230" y="5734050"/>
            <a:ext cx="237490" cy="571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3" name="Google Shape;489;p24"/>
          <p:cNvCxnSpPr/>
          <p:nvPr/>
        </p:nvCxnSpPr>
        <p:spPr>
          <a:xfrm flipV="1">
            <a:off x="5389245" y="5728335"/>
            <a:ext cx="237490" cy="571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04" name="组合 303"/>
          <p:cNvGrpSpPr/>
          <p:nvPr/>
        </p:nvGrpSpPr>
        <p:grpSpPr>
          <a:xfrm>
            <a:off x="5696585" y="5110612"/>
            <a:ext cx="2849245" cy="1548765"/>
            <a:chOff x="-183" y="1608"/>
            <a:chExt cx="4487" cy="2439"/>
          </a:xfrm>
        </p:grpSpPr>
        <p:grpSp>
          <p:nvGrpSpPr>
            <p:cNvPr id="305" name="组合 304"/>
            <p:cNvGrpSpPr/>
            <p:nvPr/>
          </p:nvGrpSpPr>
          <p:grpSpPr>
            <a:xfrm>
              <a:off x="961" y="2135"/>
              <a:ext cx="3343" cy="1178"/>
              <a:chOff x="961" y="2135"/>
              <a:chExt cx="3343" cy="1178"/>
            </a:xfrm>
          </p:grpSpPr>
          <p:grpSp>
            <p:nvGrpSpPr>
              <p:cNvPr id="306" name="组合 305"/>
              <p:cNvGrpSpPr/>
              <p:nvPr/>
            </p:nvGrpSpPr>
            <p:grpSpPr>
              <a:xfrm>
                <a:off x="1207" y="2135"/>
                <a:ext cx="2936" cy="508"/>
                <a:chOff x="108" y="2155"/>
                <a:chExt cx="2936" cy="508"/>
              </a:xfrm>
            </p:grpSpPr>
            <p:grpSp>
              <p:nvGrpSpPr>
                <p:cNvPr id="307" name="组合 306"/>
                <p:cNvGrpSpPr/>
                <p:nvPr/>
              </p:nvGrpSpPr>
              <p:grpSpPr>
                <a:xfrm flipV="1">
                  <a:off x="664" y="2465"/>
                  <a:ext cx="2380" cy="198"/>
                  <a:chOff x="3072" y="3445"/>
                  <a:chExt cx="8254" cy="1210"/>
                </a:xfrm>
              </p:grpSpPr>
              <p:sp>
                <p:nvSpPr>
                  <p:cNvPr id="309" name="Google Shape;78;p16"/>
                  <p:cNvSpPr/>
                  <p:nvPr/>
                </p:nvSpPr>
                <p:spPr>
                  <a:xfrm>
                    <a:off x="3072" y="3445"/>
                    <a:ext cx="8255" cy="1204"/>
                  </a:xfrm>
                  <a:prstGeom prst="roundRect">
                    <a:avLst>
                      <a:gd name="adj" fmla="val 16667"/>
                    </a:avLst>
                  </a:prstGeom>
                  <a:gradFill>
                    <a:gsLst>
                      <a:gs pos="0">
                        <a:srgbClr val="69D4F4">
                          <a:alpha val="26274"/>
                        </a:srgbClr>
                      </a:gs>
                      <a:gs pos="100000">
                        <a:srgbClr val="9F39D5">
                          <a:alpha val="16862"/>
                        </a:srgbClr>
                      </a:gs>
                    </a:gsLst>
                    <a:lin ang="13500032" scaled="0"/>
                  </a:gra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310" name="Google Shape;79;p16"/>
                  <p:cNvCxnSpPr/>
                  <p:nvPr/>
                </p:nvCxnSpPr>
                <p:spPr>
                  <a:xfrm flipH="1">
                    <a:off x="42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1" name="Google Shape;80;p16"/>
                  <p:cNvCxnSpPr/>
                  <p:nvPr/>
                </p:nvCxnSpPr>
                <p:spPr>
                  <a:xfrm flipH="1">
                    <a:off x="54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2" name="Google Shape;81;p16"/>
                  <p:cNvCxnSpPr/>
                  <p:nvPr/>
                </p:nvCxnSpPr>
                <p:spPr>
                  <a:xfrm flipH="1">
                    <a:off x="66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3" name="Google Shape;82;p16"/>
                  <p:cNvCxnSpPr/>
                  <p:nvPr/>
                </p:nvCxnSpPr>
                <p:spPr>
                  <a:xfrm flipH="1">
                    <a:off x="7780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4" name="Google Shape;83;p16"/>
                  <p:cNvCxnSpPr/>
                  <p:nvPr/>
                </p:nvCxnSpPr>
                <p:spPr>
                  <a:xfrm flipH="1">
                    <a:off x="8947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5" name="Google Shape;84;p16"/>
                  <p:cNvCxnSpPr/>
                  <p:nvPr/>
                </p:nvCxnSpPr>
                <p:spPr>
                  <a:xfrm flipH="1">
                    <a:off x="10114" y="3451"/>
                    <a:ext cx="12" cy="120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316" name="文本框 315"/>
                <p:cNvSpPr txBox="1"/>
                <p:nvPr/>
              </p:nvSpPr>
              <p:spPr>
                <a:xfrm>
                  <a:off x="108" y="2155"/>
                  <a:ext cx="1055" cy="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endParaRPr lang="en-US" altLang="zh-CN" sz="900"/>
                </a:p>
                <a:p>
                  <a:r>
                    <a:rPr lang="en-US" altLang="zh-CN" sz="900">
                      <a:sym typeface="+mn-ea"/>
                    </a:rPr>
                    <a:t>X</a:t>
                  </a:r>
                  <a:endParaRPr lang="en-US" altLang="zh-CN" sz="900"/>
                </a:p>
                <a:p>
                  <a:endParaRPr lang="en-US" altLang="zh-CN" sz="900" baseline="-25000"/>
                </a:p>
              </p:txBody>
            </p:sp>
          </p:grpSp>
          <p:sp>
            <p:nvSpPr>
              <p:cNvPr id="317" name="左大括号 316"/>
              <p:cNvSpPr/>
              <p:nvPr/>
            </p:nvSpPr>
            <p:spPr>
              <a:xfrm rot="16200000">
                <a:off x="2751" y="1921"/>
                <a:ext cx="403" cy="2380"/>
              </a:xfrm>
              <a:prstGeom prst="leftBrace">
                <a:avLst>
                  <a:gd name="adj1" fmla="val 0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8" name="左大括号 317"/>
              <p:cNvSpPr/>
              <p:nvPr/>
            </p:nvSpPr>
            <p:spPr>
              <a:xfrm>
                <a:off x="961" y="2445"/>
                <a:ext cx="372" cy="197"/>
              </a:xfrm>
              <a:prstGeom prst="leftBrace">
                <a:avLst>
                  <a:gd name="adj1" fmla="val 0"/>
                  <a:gd name="adj2" fmla="val 50000"/>
                </a:avLst>
              </a:prstGeom>
              <a:ln w="9525" cap="flat" cmpd="sng" algn="ctr">
                <a:solidFill>
                  <a:prstClr val="black"/>
                </a:solidFill>
                <a:prstDash val="dash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9" name="文本框 318"/>
              <p:cNvSpPr txBox="1"/>
              <p:nvPr/>
            </p:nvSpPr>
            <p:spPr>
              <a:xfrm>
                <a:off x="1710" y="2656"/>
                <a:ext cx="259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900"/>
                  <a:t> d</a:t>
                </a:r>
                <a:r>
                  <a:rPr lang="en-US" altLang="zh-CN" sz="900" baseline="-25000"/>
                  <a:t>1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2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3 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4  </a:t>
                </a:r>
                <a:r>
                  <a:rPr lang="en-US" altLang="zh-CN" sz="900"/>
                  <a:t>   d</a:t>
                </a:r>
                <a:r>
                  <a:rPr lang="en-US" altLang="zh-CN" sz="900" baseline="-25000"/>
                  <a:t>5</a:t>
                </a:r>
                <a:r>
                  <a:rPr lang="en-US" altLang="zh-CN" sz="900"/>
                  <a:t>   ...    d</a:t>
                </a:r>
                <a:r>
                  <a:rPr lang="en-US" altLang="zh-CN" sz="900" baseline="-25000"/>
                  <a:t>k</a:t>
                </a:r>
                <a:endParaRPr lang="en-US" altLang="zh-CN" sz="900" baseline="-25000"/>
              </a:p>
            </p:txBody>
          </p:sp>
        </p:grpSp>
        <p:sp>
          <p:nvSpPr>
            <p:cNvPr id="320" name="文本框 319"/>
            <p:cNvSpPr txBox="1"/>
            <p:nvPr/>
          </p:nvSpPr>
          <p:spPr>
            <a:xfrm rot="10800000">
              <a:off x="-183" y="1608"/>
              <a:ext cx="1160" cy="243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en-US" altLang="zh-CN" sz="1200"/>
                <a:t>Optimal solution obtained by genetic algorithm</a:t>
              </a:r>
              <a:endParaRPr lang="en-US" altLang="zh-CN" sz="1200"/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1763" y="3262"/>
              <a:ext cx="241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k dimensions of the point</a:t>
              </a:r>
              <a:endParaRPr lang="en-US" altLang="zh-CN" sz="1200"/>
            </a:p>
          </p:txBody>
        </p:sp>
      </p:grpSp>
      <p:sp>
        <p:nvSpPr>
          <p:cNvPr id="322" name="矩形 321"/>
          <p:cNvSpPr/>
          <p:nvPr/>
        </p:nvSpPr>
        <p:spPr>
          <a:xfrm>
            <a:off x="2780030" y="95250"/>
            <a:ext cx="6822440" cy="265938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3" name="矩形 322"/>
          <p:cNvSpPr/>
          <p:nvPr/>
        </p:nvSpPr>
        <p:spPr>
          <a:xfrm>
            <a:off x="1971675" y="2835910"/>
            <a:ext cx="7287260" cy="196596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4" name="矩形 323"/>
          <p:cNvSpPr/>
          <p:nvPr/>
        </p:nvSpPr>
        <p:spPr>
          <a:xfrm>
            <a:off x="679450" y="4847590"/>
            <a:ext cx="10746105" cy="189611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5" name="文本框 324"/>
          <p:cNvSpPr txBox="1"/>
          <p:nvPr/>
        </p:nvSpPr>
        <p:spPr>
          <a:xfrm>
            <a:off x="7353300" y="4831715"/>
            <a:ext cx="4058920" cy="474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/>
              <a:t>Genetic algorithm optimization using the final training set</a:t>
            </a:r>
            <a:endParaRPr lang="en-US" altLang="zh-CN" sz="1200"/>
          </a:p>
        </p:txBody>
      </p:sp>
      <p:sp>
        <p:nvSpPr>
          <p:cNvPr id="326" name="矩形 325"/>
          <p:cNvSpPr/>
          <p:nvPr/>
        </p:nvSpPr>
        <p:spPr>
          <a:xfrm>
            <a:off x="0" y="176530"/>
            <a:ext cx="2686685" cy="24441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WPS 演示</Application>
  <PresentationFormat/>
  <Paragraphs>123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微软雅黑</vt:lpstr>
      <vt:lpstr>Arial Unicode MS</vt:lpstr>
      <vt:lpstr>Simple Light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VisualsBy dair.aihttps://github.com/dair-ai/ml-visuals</dc:title>
  <dc:creator/>
  <cp:lastModifiedBy>扬帆</cp:lastModifiedBy>
  <cp:revision>94</cp:revision>
  <dcterms:created xsi:type="dcterms:W3CDTF">2025-07-03T07:19:00Z</dcterms:created>
  <dcterms:modified xsi:type="dcterms:W3CDTF">2025-07-05T07:22:46Z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1EEB2AA5433B4320875D56EDFB103780_12</vt:lpwstr>
  </property>
  <property fmtid="{D5CDD505-2E9C-101B-9397-08002B2CF9AE}" pid="3" name="KSOProductBuildVer">
    <vt:lpwstr>2052-12.1.0.21541</vt:lpwstr>
  </property>
</Properties>
</file>